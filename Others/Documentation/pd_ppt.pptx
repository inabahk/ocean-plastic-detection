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1F9AA4-17B3-CAB6-B5F0-083A31ABAC97}" v="583" dt="2026-06-14T13:14:08.8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a:solidFill>
                  <a:srgbClr val="0070C0"/>
                </a:solidFill>
              </a:rPr>
              <a:t>PLASTIC DETECTION</a:t>
            </a:r>
            <a:br>
              <a:rPr lang="en-US" b="1" dirty="0">
                <a:solidFill>
                  <a:srgbClr val="0070C0"/>
                </a:solidFill>
              </a:rPr>
            </a:br>
            <a:r>
              <a:rPr lang="en-US" b="1">
                <a:solidFill>
                  <a:srgbClr val="0070C0"/>
                </a:solidFill>
              </a:rPr>
              <a:t>USING </a:t>
            </a:r>
            <a:r>
              <a:rPr lang="en-US" b="1" dirty="0">
                <a:solidFill>
                  <a:srgbClr val="0070C0"/>
                </a:solidFill>
              </a:rPr>
              <a:t>YOLO</a:t>
            </a:r>
          </a:p>
        </p:txBody>
      </p:sp>
      <p:sp>
        <p:nvSpPr>
          <p:cNvPr id="3" name="Subtitle 2"/>
          <p:cNvSpPr>
            <a:spLocks noGrp="1"/>
          </p:cNvSpPr>
          <p:nvPr>
            <p:ph type="subTitle" idx="1"/>
          </p:nvPr>
        </p:nvSpPr>
        <p:spPr/>
        <p:txBody>
          <a:bodyPr vert="horz" lIns="91440" tIns="45720" rIns="91440" bIns="45720" rtlCol="0" anchor="t">
            <a:normAutofit fontScale="85000" lnSpcReduction="20000"/>
          </a:bodyPr>
          <a:lstStyle/>
          <a:p>
            <a:pPr>
              <a:lnSpc>
                <a:spcPct val="110000"/>
              </a:lnSpc>
            </a:pPr>
            <a:r>
              <a:rPr lang="en-US" b="1" u="sng"/>
              <a:t>TEAM MEMBERS:</a:t>
            </a:r>
            <a:endParaRPr lang="en-US"/>
          </a:p>
          <a:p>
            <a:pPr>
              <a:lnSpc>
                <a:spcPct val="110000"/>
              </a:lnSpc>
            </a:pPr>
            <a:r>
              <a:rPr lang="en-US"/>
              <a:t>160723748001 – BHARATH SIMHA REDDY V</a:t>
            </a:r>
          </a:p>
          <a:p>
            <a:pPr>
              <a:lnSpc>
                <a:spcPct val="110000"/>
              </a:lnSpc>
            </a:pPr>
            <a:r>
              <a:rPr lang="en-US"/>
              <a:t>160723748030 – RAAVI INDU</a:t>
            </a:r>
          </a:p>
          <a:p>
            <a:pPr>
              <a:lnSpc>
                <a:spcPct val="110000"/>
              </a:lnSpc>
            </a:pPr>
            <a:r>
              <a:rPr lang="en-US"/>
              <a:t>160723748031 – KORIMI AKASH</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7FCC2-9A8F-E6D7-2724-82A0814ABC98}"/>
              </a:ext>
            </a:extLst>
          </p:cNvPr>
          <p:cNvSpPr>
            <a:spLocks noGrp="1"/>
          </p:cNvSpPr>
          <p:nvPr>
            <p:ph type="title"/>
          </p:nvPr>
        </p:nvSpPr>
        <p:spPr>
          <a:xfrm>
            <a:off x="838200" y="383940"/>
            <a:ext cx="10515600" cy="1325563"/>
          </a:xfrm>
        </p:spPr>
        <p:txBody>
          <a:bodyPr/>
          <a:lstStyle/>
          <a:p>
            <a:pPr algn="ctr"/>
            <a:r>
              <a:rPr lang="en-US" b="1">
                <a:solidFill>
                  <a:srgbClr val="0070C0"/>
                </a:solidFill>
              </a:rPr>
              <a:t>ABSTRACT</a:t>
            </a:r>
            <a:endParaRPr lang="en-US"/>
          </a:p>
        </p:txBody>
      </p:sp>
      <p:sp>
        <p:nvSpPr>
          <p:cNvPr id="3" name="Content Placeholder 2">
            <a:extLst>
              <a:ext uri="{FF2B5EF4-FFF2-40B4-BE49-F238E27FC236}">
                <a16:creationId xmlns:a16="http://schemas.microsoft.com/office/drawing/2014/main" id="{74B838B9-FA67-B4F1-AE28-EB0F3569C68F}"/>
              </a:ext>
            </a:extLst>
          </p:cNvPr>
          <p:cNvSpPr>
            <a:spLocks noGrp="1"/>
          </p:cNvSpPr>
          <p:nvPr>
            <p:ph idx="1"/>
          </p:nvPr>
        </p:nvSpPr>
        <p:spPr>
          <a:xfrm>
            <a:off x="838200" y="1712737"/>
            <a:ext cx="10515600" cy="5677781"/>
          </a:xfrm>
        </p:spPr>
        <p:txBody>
          <a:bodyPr vert="horz" lIns="91440" tIns="45720" rIns="91440" bIns="45720" rtlCol="0" anchor="t">
            <a:normAutofit/>
          </a:bodyPr>
          <a:lstStyle/>
          <a:p>
            <a:pPr indent="0" algn="just">
              <a:buNone/>
            </a:pPr>
            <a:r>
              <a:rPr lang="en-US" dirty="0">
                <a:ea typeface="+mn-lt"/>
                <a:cs typeface="+mn-lt"/>
              </a:rPr>
              <a:t>Plastic pollution is a major environmental challenge that threatens marine ecosystems, biodiversity, and ecological balance. A key obstacle in addressing this issue is the absence of efficient automated systems capable of accurately detecting and locating plastic waste in complex underwater environments. To tackle this problem, the proposed system, “Plastic Detection using YOLO,” employs a deep learning-based object detection model to identify and localize marine plastic debris in images. Unlike traditional image classification methods, YOLO performs real-time object detection by generating bounding boxes around detected waste along with confidence scores. </a:t>
            </a:r>
            <a:endParaRPr lang="en-US" dirty="0"/>
          </a:p>
        </p:txBody>
      </p:sp>
    </p:spTree>
    <p:extLst>
      <p:ext uri="{BB962C8B-B14F-4D97-AF65-F5344CB8AC3E}">
        <p14:creationId xmlns:p14="http://schemas.microsoft.com/office/powerpoint/2010/main" val="1259752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9D3F3D-ED8B-9B50-66F5-214BE7E0FBE3}"/>
              </a:ext>
            </a:extLst>
          </p:cNvPr>
          <p:cNvSpPr>
            <a:spLocks noGrp="1"/>
          </p:cNvSpPr>
          <p:nvPr>
            <p:ph idx="1"/>
          </p:nvPr>
        </p:nvSpPr>
        <p:spPr>
          <a:xfrm>
            <a:off x="838200" y="1407062"/>
            <a:ext cx="10515600" cy="6390492"/>
          </a:xfrm>
        </p:spPr>
        <p:txBody>
          <a:bodyPr vert="horz" lIns="91440" tIns="45720" rIns="91440" bIns="45720" rtlCol="0" anchor="t">
            <a:normAutofit/>
          </a:bodyPr>
          <a:lstStyle/>
          <a:p>
            <a:pPr indent="0" algn="just">
              <a:buNone/>
            </a:pPr>
            <a:r>
              <a:rPr lang="en-US" sz="2600" dirty="0">
                <a:ea typeface="+mn-lt"/>
                <a:cs typeface="+mn-lt"/>
              </a:rPr>
              <a:t>The model is trained using the he </a:t>
            </a:r>
            <a:r>
              <a:rPr lang="en-US" sz="2600" b="1" dirty="0" err="1">
                <a:ea typeface="+mn-lt"/>
                <a:cs typeface="+mn-lt"/>
              </a:rPr>
              <a:t>TrashCan</a:t>
            </a:r>
            <a:r>
              <a:rPr lang="en-US" sz="2600" b="1" dirty="0">
                <a:ea typeface="+mn-lt"/>
                <a:cs typeface="+mn-lt"/>
              </a:rPr>
              <a:t> dataset</a:t>
            </a:r>
            <a:r>
              <a:rPr lang="en-US" sz="2600" dirty="0">
                <a:ea typeface="+mn-lt"/>
                <a:cs typeface="+mn-lt"/>
              </a:rPr>
              <a:t>, which contains annotated underwater images of marine debris. Through a </a:t>
            </a:r>
            <a:r>
              <a:rPr lang="en-US" sz="2600" b="1" dirty="0" err="1">
                <a:ea typeface="+mn-lt"/>
                <a:cs typeface="+mn-lt"/>
              </a:rPr>
              <a:t>Streamlit</a:t>
            </a:r>
            <a:r>
              <a:rPr lang="en-US" sz="2600" b="1" dirty="0">
                <a:ea typeface="+mn-lt"/>
                <a:cs typeface="+mn-lt"/>
              </a:rPr>
              <a:t>-based web interface</a:t>
            </a:r>
            <a:r>
              <a:rPr lang="en-US" sz="2600" dirty="0">
                <a:ea typeface="+mn-lt"/>
                <a:cs typeface="+mn-lt"/>
              </a:rPr>
              <a:t>, users can upload images that are processed by the trained YOLO network to detect and highlight plastic waste locations. By providing both detection and localization, the system improves automation in environmental monitoring and supports practical applications such as autonomous ocean-cleaning systems and robotic inspection platforms, contributing to scalable marine pollution management and ecosystem conservation.</a:t>
            </a:r>
            <a:endParaRPr lang="en-US"/>
          </a:p>
          <a:p>
            <a:pPr marL="0" indent="0">
              <a:buNone/>
            </a:pPr>
            <a:endParaRPr lang="en-US" dirty="0"/>
          </a:p>
        </p:txBody>
      </p:sp>
    </p:spTree>
    <p:extLst>
      <p:ext uri="{BB962C8B-B14F-4D97-AF65-F5344CB8AC3E}">
        <p14:creationId xmlns:p14="http://schemas.microsoft.com/office/powerpoint/2010/main" val="2092688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E916E-2E0E-F0BE-C553-F7D750FCB758}"/>
              </a:ext>
            </a:extLst>
          </p:cNvPr>
          <p:cNvSpPr>
            <a:spLocks noGrp="1"/>
          </p:cNvSpPr>
          <p:nvPr>
            <p:ph type="title"/>
          </p:nvPr>
        </p:nvSpPr>
        <p:spPr/>
        <p:txBody>
          <a:bodyPr/>
          <a:lstStyle/>
          <a:p>
            <a:pPr algn="ctr"/>
            <a:r>
              <a:rPr lang="en-US" b="1">
                <a:solidFill>
                  <a:srgbClr val="0070C0"/>
                </a:solidFill>
              </a:rPr>
              <a:t>CONTENTS</a:t>
            </a:r>
            <a:endParaRPr lang="en-US"/>
          </a:p>
        </p:txBody>
      </p:sp>
      <p:sp>
        <p:nvSpPr>
          <p:cNvPr id="3" name="Content Placeholder 2">
            <a:extLst>
              <a:ext uri="{FF2B5EF4-FFF2-40B4-BE49-F238E27FC236}">
                <a16:creationId xmlns:a16="http://schemas.microsoft.com/office/drawing/2014/main" id="{88CE6301-A378-7E63-21FC-5BB0AAFDF402}"/>
              </a:ext>
            </a:extLst>
          </p:cNvPr>
          <p:cNvSpPr>
            <a:spLocks noGrp="1"/>
          </p:cNvSpPr>
          <p:nvPr>
            <p:ph idx="1"/>
          </p:nvPr>
        </p:nvSpPr>
        <p:spPr/>
        <p:txBody>
          <a:bodyPr vert="horz" lIns="91440" tIns="45720" rIns="91440" bIns="45720" rtlCol="0" anchor="t">
            <a:normAutofit lnSpcReduction="10000"/>
          </a:bodyPr>
          <a:lstStyle/>
          <a:p>
            <a:r>
              <a:rPr lang="en-US"/>
              <a:t>INTRODUCTION</a:t>
            </a:r>
          </a:p>
          <a:p>
            <a:r>
              <a:rPr lang="en-US"/>
              <a:t>LITERATURE SURVEY</a:t>
            </a:r>
          </a:p>
          <a:p>
            <a:r>
              <a:rPr lang="en-US"/>
              <a:t>PROBLEM STATEMENT</a:t>
            </a:r>
            <a:endParaRPr lang="en-US" dirty="0"/>
          </a:p>
          <a:p>
            <a:r>
              <a:rPr lang="en-US"/>
              <a:t>PROPOSED SOLUTION</a:t>
            </a:r>
            <a:endParaRPr lang="en-US" dirty="0"/>
          </a:p>
          <a:p>
            <a:r>
              <a:rPr lang="en-US"/>
              <a:t>OBJECTIVES</a:t>
            </a:r>
          </a:p>
          <a:p>
            <a:r>
              <a:rPr lang="en-US"/>
              <a:t>FRAMEWORK (METHODOLOGY)</a:t>
            </a:r>
            <a:endParaRPr lang="en-US" dirty="0"/>
          </a:p>
          <a:p>
            <a:r>
              <a:rPr lang="en-US"/>
              <a:t>MODULES</a:t>
            </a:r>
          </a:p>
          <a:p>
            <a:r>
              <a:rPr lang="en-US"/>
              <a:t>TECH STACK</a:t>
            </a:r>
          </a:p>
          <a:p>
            <a:r>
              <a:rPr lang="en-US"/>
              <a:t>RESULTS</a:t>
            </a:r>
            <a:endParaRPr lang="en-US" dirty="0"/>
          </a:p>
        </p:txBody>
      </p:sp>
    </p:spTree>
    <p:extLst>
      <p:ext uri="{BB962C8B-B14F-4D97-AF65-F5344CB8AC3E}">
        <p14:creationId xmlns:p14="http://schemas.microsoft.com/office/powerpoint/2010/main" val="4249900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E23D3-6CD1-F415-2413-A488F6E0B2F1}"/>
              </a:ext>
            </a:extLst>
          </p:cNvPr>
          <p:cNvSpPr>
            <a:spLocks noGrp="1"/>
          </p:cNvSpPr>
          <p:nvPr>
            <p:ph type="title"/>
          </p:nvPr>
        </p:nvSpPr>
        <p:spPr/>
        <p:txBody>
          <a:bodyPr/>
          <a:lstStyle/>
          <a:p>
            <a:r>
              <a:rPr lang="en-US" b="1">
                <a:solidFill>
                  <a:srgbClr val="0070C0"/>
                </a:solidFill>
              </a:rPr>
              <a:t>INTRODUCTION</a:t>
            </a:r>
          </a:p>
        </p:txBody>
      </p:sp>
      <p:sp>
        <p:nvSpPr>
          <p:cNvPr id="3" name="Content Placeholder 2">
            <a:extLst>
              <a:ext uri="{FF2B5EF4-FFF2-40B4-BE49-F238E27FC236}">
                <a16:creationId xmlns:a16="http://schemas.microsoft.com/office/drawing/2014/main" id="{EA781EF7-156A-6A23-2873-F12B56244495}"/>
              </a:ext>
            </a:extLst>
          </p:cNvPr>
          <p:cNvSpPr>
            <a:spLocks noGrp="1"/>
          </p:cNvSpPr>
          <p:nvPr>
            <p:ph idx="1"/>
          </p:nvPr>
        </p:nvSpPr>
        <p:spPr/>
        <p:txBody>
          <a:bodyPr vert="horz" lIns="91440" tIns="45720" rIns="91440" bIns="45720" rtlCol="0" anchor="t">
            <a:normAutofit lnSpcReduction="10000"/>
          </a:bodyPr>
          <a:lstStyle/>
          <a:p>
            <a:pPr>
              <a:buFont typeface="Arial"/>
              <a:buChar char="•"/>
            </a:pPr>
            <a:r>
              <a:rPr lang="en-US">
                <a:ea typeface="+mn-lt"/>
                <a:cs typeface="+mn-lt"/>
              </a:rPr>
              <a:t>Plastic pollution is one of the most serious threats to marine ecosystems. </a:t>
            </a:r>
            <a:endParaRPr lang="en-US"/>
          </a:p>
          <a:p>
            <a:pPr>
              <a:buFont typeface="Arial"/>
              <a:buChar char="•"/>
            </a:pPr>
            <a:r>
              <a:rPr lang="en-US">
                <a:ea typeface="+mn-lt"/>
                <a:cs typeface="+mn-lt"/>
              </a:rPr>
              <a:t>Manual detection of underwater waste is time-consuming and inefficient. </a:t>
            </a:r>
            <a:endParaRPr lang="en-US"/>
          </a:p>
          <a:p>
            <a:pPr>
              <a:buFont typeface="Arial"/>
              <a:buChar char="•"/>
            </a:pPr>
            <a:r>
              <a:rPr lang="en-US">
                <a:ea typeface="+mn-lt"/>
                <a:cs typeface="+mn-lt"/>
              </a:rPr>
              <a:t>Computer Vision and Deep Learning enable automated debris detection. </a:t>
            </a:r>
            <a:endParaRPr lang="en-US"/>
          </a:p>
          <a:p>
            <a:pPr>
              <a:buFont typeface="Arial"/>
              <a:buChar char="•"/>
            </a:pPr>
            <a:r>
              <a:rPr lang="en-US">
                <a:ea typeface="+mn-lt"/>
                <a:cs typeface="+mn-lt"/>
              </a:rPr>
              <a:t>YOLO (You Only Look Once) provides fast and accurate object detection. </a:t>
            </a:r>
            <a:endParaRPr lang="en-US"/>
          </a:p>
          <a:p>
            <a:pPr>
              <a:buFont typeface="Arial"/>
              <a:buChar char="•"/>
            </a:pPr>
            <a:r>
              <a:rPr lang="en-US">
                <a:ea typeface="+mn-lt"/>
                <a:cs typeface="+mn-lt"/>
              </a:rPr>
              <a:t>This project focuses on detecting and localizing marine plastic waste in underwater images using a custom-trained YOLO model.</a:t>
            </a:r>
            <a:endParaRPr lang="en-US"/>
          </a:p>
          <a:p>
            <a:pPr marL="0" indent="0">
              <a:buNone/>
            </a:pPr>
            <a:endParaRPr lang="en-US" dirty="0"/>
          </a:p>
        </p:txBody>
      </p:sp>
    </p:spTree>
    <p:extLst>
      <p:ext uri="{BB962C8B-B14F-4D97-AF65-F5344CB8AC3E}">
        <p14:creationId xmlns:p14="http://schemas.microsoft.com/office/powerpoint/2010/main" val="96755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5E8B8-CC8D-A247-4C49-33E724A810A4}"/>
              </a:ext>
            </a:extLst>
          </p:cNvPr>
          <p:cNvSpPr>
            <a:spLocks noGrp="1"/>
          </p:cNvSpPr>
          <p:nvPr>
            <p:ph type="title"/>
          </p:nvPr>
        </p:nvSpPr>
        <p:spPr/>
        <p:txBody>
          <a:bodyPr/>
          <a:lstStyle/>
          <a:p>
            <a:r>
              <a:rPr lang="en-US" b="1">
                <a:solidFill>
                  <a:srgbClr val="0070C0"/>
                </a:solidFill>
              </a:rPr>
              <a:t>LITERATURE SURVEY</a:t>
            </a:r>
          </a:p>
        </p:txBody>
      </p:sp>
      <p:graphicFrame>
        <p:nvGraphicFramePr>
          <p:cNvPr id="5" name="Content Placeholder 4">
            <a:extLst>
              <a:ext uri="{FF2B5EF4-FFF2-40B4-BE49-F238E27FC236}">
                <a16:creationId xmlns:a16="http://schemas.microsoft.com/office/drawing/2014/main" id="{A64D5BF2-BB90-2A92-B931-18AEF8F128A1}"/>
              </a:ext>
            </a:extLst>
          </p:cNvPr>
          <p:cNvGraphicFramePr>
            <a:graphicFrameLocks noGrp="1"/>
          </p:cNvGraphicFramePr>
          <p:nvPr>
            <p:ph idx="1"/>
            <p:extLst>
              <p:ext uri="{D42A27DB-BD31-4B8C-83A1-F6EECF244321}">
                <p14:modId xmlns:p14="http://schemas.microsoft.com/office/powerpoint/2010/main" val="4107918324"/>
              </p:ext>
            </p:extLst>
          </p:nvPr>
        </p:nvGraphicFramePr>
        <p:xfrm>
          <a:off x="837259" y="1486370"/>
          <a:ext cx="10515600" cy="5010860"/>
        </p:xfrm>
        <a:graphic>
          <a:graphicData uri="http://schemas.openxmlformats.org/drawingml/2006/table">
            <a:tbl>
              <a:tblPr bandRow="1">
                <a:tableStyleId>{5C22544A-7EE6-4342-B048-85BDC9FD1C3A}</a:tableStyleId>
              </a:tblPr>
              <a:tblGrid>
                <a:gridCol w="2103120">
                  <a:extLst>
                    <a:ext uri="{9D8B030D-6E8A-4147-A177-3AD203B41FA5}">
                      <a16:colId xmlns:a16="http://schemas.microsoft.com/office/drawing/2014/main" val="1626378422"/>
                    </a:ext>
                  </a:extLst>
                </a:gridCol>
                <a:gridCol w="2103120">
                  <a:extLst>
                    <a:ext uri="{9D8B030D-6E8A-4147-A177-3AD203B41FA5}">
                      <a16:colId xmlns:a16="http://schemas.microsoft.com/office/drawing/2014/main" val="1688469299"/>
                    </a:ext>
                  </a:extLst>
                </a:gridCol>
                <a:gridCol w="2103120">
                  <a:extLst>
                    <a:ext uri="{9D8B030D-6E8A-4147-A177-3AD203B41FA5}">
                      <a16:colId xmlns:a16="http://schemas.microsoft.com/office/drawing/2014/main" val="2479632234"/>
                    </a:ext>
                  </a:extLst>
                </a:gridCol>
                <a:gridCol w="2103120">
                  <a:extLst>
                    <a:ext uri="{9D8B030D-6E8A-4147-A177-3AD203B41FA5}">
                      <a16:colId xmlns:a16="http://schemas.microsoft.com/office/drawing/2014/main" val="157025434"/>
                    </a:ext>
                  </a:extLst>
                </a:gridCol>
                <a:gridCol w="2103120">
                  <a:extLst>
                    <a:ext uri="{9D8B030D-6E8A-4147-A177-3AD203B41FA5}">
                      <a16:colId xmlns:a16="http://schemas.microsoft.com/office/drawing/2014/main" val="1255729849"/>
                    </a:ext>
                  </a:extLst>
                </a:gridCol>
              </a:tblGrid>
              <a:tr h="253619">
                <a:tc>
                  <a:txBody>
                    <a:bodyPr/>
                    <a:lstStyle/>
                    <a:p>
                      <a:pPr algn="ctr">
                        <a:buNone/>
                      </a:pPr>
                      <a:r>
                        <a:rPr lang="en-US" sz="1400" b="1" u="sng" dirty="0" err="1"/>
                        <a:t>S.No</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b="1" u="sng"/>
                        <a:t>Title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b="1" u="sng"/>
                        <a:t>Authors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b="1" u="sng"/>
                        <a:t>Year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b="1" u="sng"/>
                        <a:t>Outcomes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396582497"/>
                  </a:ext>
                </a:extLst>
              </a:tr>
              <a:tr h="1568687">
                <a:tc>
                  <a:txBody>
                    <a:bodyPr/>
                    <a:lstStyle/>
                    <a:p>
                      <a:pPr>
                        <a:buNone/>
                      </a:pPr>
                      <a:r>
                        <a:rPr lang="en-US" sz="1400"/>
                        <a:t>1</a:t>
                      </a:r>
                      <a:endParaRPr lang="en-US" sz="1400"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dirty="0" err="1"/>
                        <a:t>TrashCan</a:t>
                      </a:r>
                      <a:r>
                        <a:rPr lang="en-US" sz="1400" dirty="0"/>
                        <a:t>: A Semantically-Segmented Dataset towards Visual Detection of Marine Debris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a:t>Jungseok Hong, Michael Fulton, Junaed Sattar</a:t>
                      </a:r>
                      <a:endParaRPr lang="en-US" sz="1400"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a:t>2020</a:t>
                      </a:r>
                      <a:endParaRPr lang="en-US" sz="1400"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dirty="0"/>
                        <a:t>Introduced the </a:t>
                      </a:r>
                      <a:r>
                        <a:rPr lang="en-US" sz="1400" dirty="0" err="1"/>
                        <a:t>TrashCan</a:t>
                      </a:r>
                      <a:r>
                        <a:rPr lang="en-US" sz="1400" dirty="0"/>
                        <a:t> dataset with underwater trash annotations, providing a benchmark for marine debris detection.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938073679"/>
                  </a:ext>
                </a:extLst>
              </a:tr>
              <a:tr h="1756557">
                <a:tc>
                  <a:txBody>
                    <a:bodyPr/>
                    <a:lstStyle/>
                    <a:p>
                      <a:pPr>
                        <a:buNone/>
                      </a:pPr>
                      <a:r>
                        <a:rPr lang="en-US" sz="1400"/>
                        <a:t>2</a:t>
                      </a:r>
                      <a:endParaRPr lang="en-US" sz="1400"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dirty="0"/>
                        <a:t>State of the Art Applications of Deep Learning within Tracking and Detecting Marine Debris: A Survey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a:t>Zoe Moorton, Zeyneb Kurt, Wai Lok Woo</a:t>
                      </a:r>
                      <a:endParaRPr lang="en-US" sz="1400"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a:t>2024</a:t>
                      </a:r>
                      <a:endParaRPr lang="en-US" sz="1400"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a:t>Reviewed recent deep learning methods and concluded that YOLO-based models show strong potential for marine debris detection.</a:t>
                      </a:r>
                      <a:endParaRPr lang="en-US" sz="1400"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351267609"/>
                  </a:ext>
                </a:extLst>
              </a:tr>
              <a:tr h="1380816">
                <a:tc>
                  <a:txBody>
                    <a:bodyPr/>
                    <a:lstStyle/>
                    <a:p>
                      <a:pPr>
                        <a:buNone/>
                      </a:pPr>
                      <a:r>
                        <a:rPr lang="en-US" sz="1400"/>
                        <a:t>3</a:t>
                      </a:r>
                      <a:endParaRPr lang="en-US" sz="1400"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a:t>A Dataset for Detection and Segmentation of Underwater Marine Debris in Shallow Waters</a:t>
                      </a:r>
                      <a:endParaRPr lang="en-US" sz="1400"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dirty="0" err="1"/>
                        <a:t>Seaclear</a:t>
                      </a:r>
                      <a:r>
                        <a:rPr lang="en-US" sz="1400" dirty="0"/>
                        <a:t> Research Team</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a:t>2024</a:t>
                      </a:r>
                      <a:endParaRPr lang="en-US" sz="1400"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a:t>Presented a large annotated underwater debris dataset to improve object detection and segmentation performance.</a:t>
                      </a:r>
                      <a:endParaRPr lang="en-US" sz="1400"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995071591"/>
                  </a:ext>
                </a:extLst>
              </a:tr>
            </a:tbl>
          </a:graphicData>
        </a:graphic>
      </p:graphicFrame>
    </p:spTree>
    <p:extLst>
      <p:ext uri="{BB962C8B-B14F-4D97-AF65-F5344CB8AC3E}">
        <p14:creationId xmlns:p14="http://schemas.microsoft.com/office/powerpoint/2010/main" val="3712685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B278F-0831-0485-0151-AF84BE742D42}"/>
              </a:ext>
            </a:extLst>
          </p:cNvPr>
          <p:cNvSpPr>
            <a:spLocks noGrp="1"/>
          </p:cNvSpPr>
          <p:nvPr>
            <p:ph type="title"/>
          </p:nvPr>
        </p:nvSpPr>
        <p:spPr/>
        <p:txBody>
          <a:bodyPr/>
          <a:lstStyle/>
          <a:p>
            <a:r>
              <a:rPr lang="en-US" b="1">
                <a:solidFill>
                  <a:srgbClr val="0070C0"/>
                </a:solidFill>
              </a:rPr>
              <a:t>PROBLEM STATEMENT</a:t>
            </a:r>
          </a:p>
        </p:txBody>
      </p:sp>
      <p:sp>
        <p:nvSpPr>
          <p:cNvPr id="3" name="Content Placeholder 2">
            <a:extLst>
              <a:ext uri="{FF2B5EF4-FFF2-40B4-BE49-F238E27FC236}">
                <a16:creationId xmlns:a16="http://schemas.microsoft.com/office/drawing/2014/main" id="{7B060190-0374-FA98-4480-F3DB226A045F}"/>
              </a:ext>
            </a:extLst>
          </p:cNvPr>
          <p:cNvSpPr>
            <a:spLocks noGrp="1"/>
          </p:cNvSpPr>
          <p:nvPr>
            <p:ph idx="1"/>
          </p:nvPr>
        </p:nvSpPr>
        <p:spPr/>
        <p:txBody>
          <a:bodyPr vert="horz" lIns="91440" tIns="45720" rIns="91440" bIns="45720" rtlCol="0" anchor="t">
            <a:normAutofit fontScale="92500"/>
          </a:bodyPr>
          <a:lstStyle/>
          <a:p>
            <a:pPr marL="0" indent="0">
              <a:buNone/>
            </a:pPr>
            <a:r>
              <a:rPr lang="en-US" dirty="0">
                <a:ea typeface="+mn-lt"/>
                <a:cs typeface="+mn-lt"/>
              </a:rPr>
              <a:t>• </a:t>
            </a:r>
            <a:r>
              <a:rPr lang="en-US" b="1" u="sng" dirty="0">
                <a:ea typeface="+mn-lt"/>
                <a:cs typeface="+mn-lt"/>
              </a:rPr>
              <a:t>Growing Marine Pollution:</a:t>
            </a:r>
            <a:r>
              <a:rPr lang="en-US" dirty="0">
                <a:ea typeface="+mn-lt"/>
                <a:cs typeface="+mn-lt"/>
              </a:rPr>
              <a:t> Plastic waste in oceans, rivers, and coastal regions continues to threaten marine ecosystems and </a:t>
            </a:r>
            <a:r>
              <a:rPr lang="en-US">
                <a:ea typeface="+mn-lt"/>
                <a:cs typeface="+mn-lt"/>
              </a:rPr>
              <a:t>biodiversity.</a:t>
            </a:r>
            <a:endParaRPr lang="en-US" dirty="0">
              <a:ea typeface="+mn-lt"/>
              <a:cs typeface="+mn-lt"/>
            </a:endParaRPr>
          </a:p>
          <a:p>
            <a:pPr marL="0" indent="0">
              <a:buNone/>
            </a:pPr>
            <a:r>
              <a:rPr lang="en-US" dirty="0">
                <a:ea typeface="+mn-lt"/>
                <a:cs typeface="+mn-lt"/>
              </a:rPr>
              <a:t>• </a:t>
            </a:r>
            <a:r>
              <a:rPr lang="en-US" b="1" u="sng" dirty="0">
                <a:ea typeface="+mn-lt"/>
                <a:cs typeface="+mn-lt"/>
              </a:rPr>
              <a:t>Challenging Underwater </a:t>
            </a:r>
            <a:r>
              <a:rPr lang="en-US" b="1" u="sng">
                <a:ea typeface="+mn-lt"/>
                <a:cs typeface="+mn-lt"/>
              </a:rPr>
              <a:t>Environments:</a:t>
            </a:r>
            <a:r>
              <a:rPr lang="en-US" dirty="0">
                <a:ea typeface="+mn-lt"/>
                <a:cs typeface="+mn-lt"/>
              </a:rPr>
              <a:t> Variations in lighting, water clarity, and background objects make debris detection difficult.</a:t>
            </a:r>
          </a:p>
          <a:p>
            <a:pPr marL="0" indent="0">
              <a:buNone/>
            </a:pPr>
            <a:r>
              <a:rPr lang="en-US" dirty="0">
                <a:ea typeface="+mn-lt"/>
                <a:cs typeface="+mn-lt"/>
              </a:rPr>
              <a:t>• </a:t>
            </a:r>
            <a:r>
              <a:rPr lang="en-US" b="1" u="sng" dirty="0">
                <a:ea typeface="+mn-lt"/>
                <a:cs typeface="+mn-lt"/>
              </a:rPr>
              <a:t>Lack of Intelligent Perception Systems:</a:t>
            </a:r>
            <a:r>
              <a:rPr lang="en-US" dirty="0">
                <a:ea typeface="+mn-lt"/>
                <a:cs typeface="+mn-lt"/>
              </a:rPr>
              <a:t> Autonomous cleanup robots require reliable vision systems to identify and locate waste.</a:t>
            </a:r>
          </a:p>
          <a:p>
            <a:pPr marL="0" indent="0">
              <a:buNone/>
            </a:pPr>
            <a:r>
              <a:rPr lang="en-US" dirty="0">
                <a:ea typeface="+mn-lt"/>
                <a:cs typeface="+mn-lt"/>
              </a:rPr>
              <a:t>• </a:t>
            </a:r>
            <a:r>
              <a:rPr lang="en-US" b="1" u="sng" dirty="0">
                <a:ea typeface="+mn-lt"/>
                <a:cs typeface="+mn-lt"/>
              </a:rPr>
              <a:t>Need for Precise Localization:</a:t>
            </a:r>
            <a:r>
              <a:rPr lang="en-US" dirty="0">
                <a:ea typeface="+mn-lt"/>
                <a:cs typeface="+mn-lt"/>
              </a:rPr>
              <a:t> Simply identifying debris is not enough; its exact location must be detected for effective collection.</a:t>
            </a:r>
          </a:p>
          <a:p>
            <a:pPr marL="0" indent="0">
              <a:buNone/>
            </a:pPr>
            <a:r>
              <a:rPr lang="en-US">
                <a:ea typeface="+mn-lt"/>
                <a:cs typeface="+mn-lt"/>
              </a:rPr>
              <a:t>• </a:t>
            </a:r>
            <a:r>
              <a:rPr lang="en-US" b="1" u="sng">
                <a:ea typeface="+mn-lt"/>
                <a:cs typeface="+mn-lt"/>
              </a:rPr>
              <a:t>Limited </a:t>
            </a:r>
            <a:r>
              <a:rPr lang="en-US" b="1" u="sng" dirty="0">
                <a:ea typeface="+mn-lt"/>
                <a:cs typeface="+mn-lt"/>
              </a:rPr>
              <a:t>Real-World Detection Solutions:</a:t>
            </a:r>
            <a:r>
              <a:rPr lang="en-US" dirty="0">
                <a:ea typeface="+mn-lt"/>
                <a:cs typeface="+mn-lt"/>
              </a:rPr>
              <a:t> Existing approaches often struggle to distinguish debris from surrounding underwater objects. </a:t>
            </a:r>
            <a:endParaRPr lang="en-US"/>
          </a:p>
        </p:txBody>
      </p:sp>
    </p:spTree>
    <p:extLst>
      <p:ext uri="{BB962C8B-B14F-4D97-AF65-F5344CB8AC3E}">
        <p14:creationId xmlns:p14="http://schemas.microsoft.com/office/powerpoint/2010/main" val="2043414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30CFE-1DD7-1AD2-BD12-6F9EC47AF529}"/>
              </a:ext>
            </a:extLst>
          </p:cNvPr>
          <p:cNvSpPr>
            <a:spLocks noGrp="1"/>
          </p:cNvSpPr>
          <p:nvPr>
            <p:ph type="title"/>
          </p:nvPr>
        </p:nvSpPr>
        <p:spPr/>
        <p:txBody>
          <a:bodyPr/>
          <a:lstStyle/>
          <a:p>
            <a:r>
              <a:rPr lang="en-US" b="1">
                <a:solidFill>
                  <a:srgbClr val="0070C0"/>
                </a:solidFill>
              </a:rPr>
              <a:t>PROPOSED SOLUTION</a:t>
            </a:r>
          </a:p>
        </p:txBody>
      </p:sp>
      <p:sp>
        <p:nvSpPr>
          <p:cNvPr id="3" name="Content Placeholder 2">
            <a:extLst>
              <a:ext uri="{FF2B5EF4-FFF2-40B4-BE49-F238E27FC236}">
                <a16:creationId xmlns:a16="http://schemas.microsoft.com/office/drawing/2014/main" id="{7C138183-E80E-C5B4-10FD-D6E4A7014515}"/>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 A YOLO-based object detection system that identifies and localizes marine plastic debris in underwater images.</a:t>
            </a:r>
            <a:endParaRPr lang="en-US" dirty="0"/>
          </a:p>
          <a:p>
            <a:pPr marL="0" indent="0">
              <a:buNone/>
            </a:pPr>
            <a:r>
              <a:rPr lang="en-US" dirty="0">
                <a:ea typeface="+mn-lt"/>
                <a:cs typeface="+mn-lt"/>
              </a:rPr>
              <a:t>• The model outputs bounding boxes with confidence scores </a:t>
            </a:r>
            <a:r>
              <a:rPr lang="en-US">
                <a:ea typeface="+mn-lt"/>
                <a:cs typeface="+mn-lt"/>
              </a:rPr>
              <a:t>instead of simple class labels.</a:t>
            </a:r>
          </a:p>
          <a:p>
            <a:pPr marL="0" indent="0">
              <a:buNone/>
            </a:pPr>
            <a:r>
              <a:rPr lang="en-US" dirty="0">
                <a:ea typeface="+mn-lt"/>
                <a:cs typeface="+mn-lt"/>
              </a:rPr>
              <a:t>• A </a:t>
            </a:r>
            <a:r>
              <a:rPr lang="en-US" dirty="0" err="1">
                <a:ea typeface="+mn-lt"/>
                <a:cs typeface="+mn-lt"/>
              </a:rPr>
              <a:t>Streamlit</a:t>
            </a:r>
            <a:r>
              <a:rPr lang="en-US" dirty="0">
                <a:ea typeface="+mn-lt"/>
                <a:cs typeface="+mn-lt"/>
              </a:rPr>
              <a:t>-based interface allows users to upload images and visualize detected waste in real time.</a:t>
            </a:r>
          </a:p>
          <a:p>
            <a:pPr marL="0" indent="0">
              <a:buNone/>
            </a:pPr>
            <a:r>
              <a:rPr lang="en-US">
                <a:ea typeface="+mn-lt"/>
                <a:cs typeface="+mn-lt"/>
              </a:rPr>
              <a:t>• Trained on the </a:t>
            </a:r>
            <a:r>
              <a:rPr lang="en-US" err="1">
                <a:ea typeface="+mn-lt"/>
                <a:cs typeface="+mn-lt"/>
              </a:rPr>
              <a:t>TrashCan</a:t>
            </a:r>
            <a:r>
              <a:rPr lang="en-US" dirty="0">
                <a:ea typeface="+mn-lt"/>
                <a:cs typeface="+mn-lt"/>
              </a:rPr>
              <a:t> dataset along with curated test images for robustness validation.</a:t>
            </a:r>
            <a:endParaRPr lang="en-US"/>
          </a:p>
        </p:txBody>
      </p:sp>
    </p:spTree>
    <p:extLst>
      <p:ext uri="{BB962C8B-B14F-4D97-AF65-F5344CB8AC3E}">
        <p14:creationId xmlns:p14="http://schemas.microsoft.com/office/powerpoint/2010/main" val="841412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405EB-44CB-B904-8276-A1207385DFD8}"/>
              </a:ext>
            </a:extLst>
          </p:cNvPr>
          <p:cNvSpPr>
            <a:spLocks noGrp="1"/>
          </p:cNvSpPr>
          <p:nvPr>
            <p:ph type="title"/>
          </p:nvPr>
        </p:nvSpPr>
        <p:spPr/>
        <p:txBody>
          <a:bodyPr/>
          <a:lstStyle/>
          <a:p>
            <a:r>
              <a:rPr lang="en-US" b="1">
                <a:solidFill>
                  <a:srgbClr val="0070C0"/>
                </a:solidFill>
              </a:rPr>
              <a:t>OBJECTIVES</a:t>
            </a:r>
          </a:p>
        </p:txBody>
      </p:sp>
      <p:sp>
        <p:nvSpPr>
          <p:cNvPr id="3" name="Content Placeholder 2">
            <a:extLst>
              <a:ext uri="{FF2B5EF4-FFF2-40B4-BE49-F238E27FC236}">
                <a16:creationId xmlns:a16="http://schemas.microsoft.com/office/drawing/2014/main" id="{F00DCFD6-D0CC-7E26-14AB-ED02F6C2A13F}"/>
              </a:ext>
            </a:extLst>
          </p:cNvPr>
          <p:cNvSpPr>
            <a:spLocks noGrp="1"/>
          </p:cNvSpPr>
          <p:nvPr>
            <p:ph idx="1"/>
          </p:nvPr>
        </p:nvSpPr>
        <p:spPr/>
        <p:txBody>
          <a:bodyPr vert="horz" lIns="91440" tIns="45720" rIns="91440" bIns="45720" rtlCol="0" anchor="t">
            <a:normAutofit lnSpcReduction="10000"/>
          </a:bodyPr>
          <a:lstStyle/>
          <a:p>
            <a:pPr>
              <a:buNone/>
            </a:pPr>
            <a:r>
              <a:rPr lang="en-US" dirty="0">
                <a:ea typeface="+mn-lt"/>
                <a:cs typeface="+mn-lt"/>
              </a:rPr>
              <a:t>• Develop a YOLO-based object detection system for identifying marine plastic waste in underwater images.</a:t>
            </a:r>
            <a:endParaRPr lang="en-US" dirty="0"/>
          </a:p>
          <a:p>
            <a:pPr>
              <a:buNone/>
            </a:pPr>
            <a:r>
              <a:rPr lang="en-US">
                <a:ea typeface="+mn-lt"/>
                <a:cs typeface="+mn-lt"/>
              </a:rPr>
              <a:t>• Accurately localize detected debris using bounding boxes and confidence scores.</a:t>
            </a:r>
            <a:endParaRPr lang="en-US"/>
          </a:p>
          <a:p>
            <a:pPr>
              <a:buNone/>
            </a:pPr>
            <a:r>
              <a:rPr lang="en-US" dirty="0">
                <a:ea typeface="+mn-lt"/>
                <a:cs typeface="+mn-lt"/>
              </a:rPr>
              <a:t>• Provide a user-friendly </a:t>
            </a:r>
            <a:r>
              <a:rPr lang="en-US" dirty="0" err="1">
                <a:ea typeface="+mn-lt"/>
                <a:cs typeface="+mn-lt"/>
              </a:rPr>
              <a:t>Streamlit</a:t>
            </a:r>
            <a:r>
              <a:rPr lang="en-US" dirty="0">
                <a:ea typeface="+mn-lt"/>
                <a:cs typeface="+mn-lt"/>
              </a:rPr>
              <a:t> interface for uploading images and visualizing detection results.</a:t>
            </a:r>
            <a:endParaRPr lang="en-US" dirty="0"/>
          </a:p>
          <a:p>
            <a:pPr>
              <a:buNone/>
            </a:pPr>
            <a:r>
              <a:rPr lang="en-US">
                <a:ea typeface="+mn-lt"/>
                <a:cs typeface="+mn-lt"/>
              </a:rPr>
              <a:t>• Enable real-time and automated monitoring of marine pollution in complex underwater environments.</a:t>
            </a:r>
            <a:endParaRPr lang="en-US"/>
          </a:p>
          <a:p>
            <a:pPr>
              <a:buNone/>
            </a:pPr>
            <a:r>
              <a:rPr lang="en-US">
                <a:ea typeface="+mn-lt"/>
                <a:cs typeface="+mn-lt"/>
              </a:rPr>
              <a:t>• Create a scalable solution that can be integrated with autonomous ocean-cleaning and monitoring systems.</a:t>
            </a:r>
            <a:endParaRPr lang="en-US"/>
          </a:p>
          <a:p>
            <a:pPr marL="0" indent="0">
              <a:buNone/>
            </a:pPr>
            <a:endParaRPr lang="en-US" dirty="0"/>
          </a:p>
        </p:txBody>
      </p:sp>
    </p:spTree>
    <p:extLst>
      <p:ext uri="{BB962C8B-B14F-4D97-AF65-F5344CB8AC3E}">
        <p14:creationId xmlns:p14="http://schemas.microsoft.com/office/powerpoint/2010/main" val="3882960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94751-8B3E-8908-48D8-F91A95C5CEB0}"/>
              </a:ext>
            </a:extLst>
          </p:cNvPr>
          <p:cNvSpPr>
            <a:spLocks noGrp="1"/>
          </p:cNvSpPr>
          <p:nvPr>
            <p:ph type="title"/>
          </p:nvPr>
        </p:nvSpPr>
        <p:spPr/>
        <p:txBody>
          <a:bodyPr/>
          <a:lstStyle/>
          <a:p>
            <a:r>
              <a:rPr lang="en-US" b="1">
                <a:solidFill>
                  <a:srgbClr val="0070C0"/>
                </a:solidFill>
              </a:rPr>
              <a:t>FRAMEWORK (METHODOLOGY)</a:t>
            </a:r>
          </a:p>
        </p:txBody>
      </p:sp>
      <p:sp>
        <p:nvSpPr>
          <p:cNvPr id="3" name="Content Placeholder 2">
            <a:extLst>
              <a:ext uri="{FF2B5EF4-FFF2-40B4-BE49-F238E27FC236}">
                <a16:creationId xmlns:a16="http://schemas.microsoft.com/office/drawing/2014/main" id="{517A3FB0-B77F-7AC0-1857-665029F47200}"/>
              </a:ext>
            </a:extLst>
          </p:cNvPr>
          <p:cNvSpPr>
            <a:spLocks noGrp="1"/>
          </p:cNvSpPr>
          <p:nvPr>
            <p:ph idx="1"/>
          </p:nvPr>
        </p:nvSpPr>
        <p:spPr/>
        <p:txBody>
          <a:bodyPr vert="horz" lIns="91440" tIns="45720" rIns="91440" bIns="45720" rtlCol="0" anchor="t">
            <a:normAutofit lnSpcReduction="10000"/>
          </a:bodyPr>
          <a:lstStyle/>
          <a:p>
            <a:pPr marL="0" indent="0">
              <a:buNone/>
            </a:pPr>
            <a:r>
              <a:rPr lang="en-US" dirty="0">
                <a:ea typeface="+mn-lt"/>
                <a:cs typeface="+mn-lt"/>
              </a:rPr>
              <a:t>• </a:t>
            </a:r>
            <a:r>
              <a:rPr lang="en-US" b="1" u="sng" dirty="0">
                <a:ea typeface="+mn-lt"/>
                <a:cs typeface="+mn-lt"/>
              </a:rPr>
              <a:t>Upload:</a:t>
            </a:r>
            <a:r>
              <a:rPr lang="en-US" dirty="0">
                <a:ea typeface="+mn-lt"/>
                <a:cs typeface="+mn-lt"/>
              </a:rPr>
              <a:t> User uploads an underwater or marine environment image via </a:t>
            </a:r>
            <a:r>
              <a:rPr lang="en-US" dirty="0" err="1">
                <a:ea typeface="+mn-lt"/>
                <a:cs typeface="+mn-lt"/>
              </a:rPr>
              <a:t>Streamlit</a:t>
            </a:r>
            <a:r>
              <a:rPr lang="en-US" dirty="0">
                <a:ea typeface="+mn-lt"/>
                <a:cs typeface="+mn-lt"/>
              </a:rPr>
              <a:t> app.</a:t>
            </a:r>
          </a:p>
          <a:p>
            <a:pPr marL="0" indent="0">
              <a:buNone/>
            </a:pPr>
            <a:r>
              <a:rPr lang="en-US" dirty="0">
                <a:ea typeface="+mn-lt"/>
                <a:cs typeface="+mn-lt"/>
              </a:rPr>
              <a:t>• </a:t>
            </a:r>
            <a:r>
              <a:rPr lang="en-US" b="1" u="sng" dirty="0">
                <a:ea typeface="+mn-lt"/>
                <a:cs typeface="+mn-lt"/>
              </a:rPr>
              <a:t>Preprocessing:</a:t>
            </a:r>
            <a:r>
              <a:rPr lang="en-US" dirty="0">
                <a:ea typeface="+mn-lt"/>
                <a:cs typeface="+mn-lt"/>
              </a:rPr>
              <a:t> Image is resized and normalized for YOLO </a:t>
            </a:r>
            <a:r>
              <a:rPr lang="en-US">
                <a:ea typeface="+mn-lt"/>
                <a:cs typeface="+mn-lt"/>
              </a:rPr>
              <a:t>inference.</a:t>
            </a:r>
          </a:p>
          <a:p>
            <a:pPr marL="0" indent="0">
              <a:buNone/>
            </a:pPr>
            <a:r>
              <a:rPr lang="en-US" dirty="0">
                <a:ea typeface="+mn-lt"/>
                <a:cs typeface="+mn-lt"/>
              </a:rPr>
              <a:t>• </a:t>
            </a:r>
            <a:r>
              <a:rPr lang="en-US" b="1" u="sng" dirty="0">
                <a:ea typeface="+mn-lt"/>
                <a:cs typeface="+mn-lt"/>
              </a:rPr>
              <a:t>Detection (YOLO):</a:t>
            </a:r>
            <a:r>
              <a:rPr lang="en-US" dirty="0">
                <a:ea typeface="+mn-lt"/>
                <a:cs typeface="+mn-lt"/>
              </a:rPr>
              <a:t> The trained YOLO model processes the image </a:t>
            </a:r>
            <a:r>
              <a:rPr lang="en-US">
                <a:ea typeface="+mn-lt"/>
                <a:cs typeface="+mn-lt"/>
              </a:rPr>
              <a:t>and detects marine objects.</a:t>
            </a:r>
          </a:p>
          <a:p>
            <a:pPr marL="0" indent="0">
              <a:buNone/>
            </a:pPr>
            <a:r>
              <a:rPr lang="en-US" dirty="0">
                <a:ea typeface="+mn-lt"/>
                <a:cs typeface="+mn-lt"/>
              </a:rPr>
              <a:t>• </a:t>
            </a:r>
            <a:r>
              <a:rPr lang="en-US" b="1" u="sng" dirty="0">
                <a:ea typeface="+mn-lt"/>
                <a:cs typeface="+mn-lt"/>
              </a:rPr>
              <a:t>Bounding Box Output:</a:t>
            </a:r>
            <a:r>
              <a:rPr lang="en-US" dirty="0">
                <a:ea typeface="+mn-lt"/>
                <a:cs typeface="+mn-lt"/>
              </a:rPr>
              <a:t> Detected debris is highlighted using </a:t>
            </a:r>
            <a:r>
              <a:rPr lang="en-US">
                <a:ea typeface="+mn-lt"/>
                <a:cs typeface="+mn-lt"/>
              </a:rPr>
              <a:t>bounding boxes with confidence scores.</a:t>
            </a:r>
          </a:p>
          <a:p>
            <a:pPr marL="0" indent="0">
              <a:buNone/>
            </a:pPr>
            <a:r>
              <a:rPr lang="en-US">
                <a:ea typeface="+mn-lt"/>
                <a:cs typeface="+mn-lt"/>
              </a:rPr>
              <a:t>• </a:t>
            </a:r>
            <a:r>
              <a:rPr lang="en-US" b="1" u="sng">
                <a:ea typeface="+mn-lt"/>
                <a:cs typeface="+mn-lt"/>
              </a:rPr>
              <a:t>Visualization:</a:t>
            </a:r>
            <a:r>
              <a:rPr lang="en-US">
                <a:ea typeface="+mn-lt"/>
                <a:cs typeface="+mn-lt"/>
              </a:rPr>
              <a:t> Output </a:t>
            </a:r>
            <a:r>
              <a:rPr lang="en-US" dirty="0">
                <a:ea typeface="+mn-lt"/>
                <a:cs typeface="+mn-lt"/>
              </a:rPr>
              <a:t>image is displayed with labeled detections in the UI.</a:t>
            </a:r>
            <a:endParaRPr lang="en-US"/>
          </a:p>
        </p:txBody>
      </p:sp>
    </p:spTree>
    <p:extLst>
      <p:ext uri="{BB962C8B-B14F-4D97-AF65-F5344CB8AC3E}">
        <p14:creationId xmlns:p14="http://schemas.microsoft.com/office/powerpoint/2010/main" val="973931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EF7A1-C855-8C3F-0EB7-156B7EBF9497}"/>
              </a:ext>
            </a:extLst>
          </p:cNvPr>
          <p:cNvSpPr>
            <a:spLocks noGrp="1"/>
          </p:cNvSpPr>
          <p:nvPr>
            <p:ph type="title"/>
          </p:nvPr>
        </p:nvSpPr>
        <p:spPr/>
        <p:txBody>
          <a:bodyPr/>
          <a:lstStyle/>
          <a:p>
            <a:r>
              <a:rPr lang="en-US" b="1">
                <a:solidFill>
                  <a:srgbClr val="0070C0"/>
                </a:solidFill>
              </a:rPr>
              <a:t>MODULES</a:t>
            </a:r>
          </a:p>
        </p:txBody>
      </p:sp>
      <p:sp>
        <p:nvSpPr>
          <p:cNvPr id="3" name="Content Placeholder 2">
            <a:extLst>
              <a:ext uri="{FF2B5EF4-FFF2-40B4-BE49-F238E27FC236}">
                <a16:creationId xmlns:a16="http://schemas.microsoft.com/office/drawing/2014/main" id="{B2A67E89-D513-C38D-F7D3-D508E327BC3C}"/>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 </a:t>
            </a:r>
            <a:r>
              <a:rPr lang="en-US" b="1" u="sng" dirty="0">
                <a:ea typeface="+mn-lt"/>
                <a:cs typeface="+mn-lt"/>
              </a:rPr>
              <a:t>Web-Based Interface:</a:t>
            </a:r>
            <a:r>
              <a:rPr lang="en-US" dirty="0">
                <a:ea typeface="+mn-lt"/>
                <a:cs typeface="+mn-lt"/>
              </a:rPr>
              <a:t> </a:t>
            </a:r>
            <a:r>
              <a:rPr lang="en-US" dirty="0" err="1">
                <a:ea typeface="+mn-lt"/>
                <a:cs typeface="+mn-lt"/>
              </a:rPr>
              <a:t>Streamlit</a:t>
            </a:r>
            <a:r>
              <a:rPr lang="en-US" dirty="0">
                <a:ea typeface="+mn-lt"/>
                <a:cs typeface="+mn-lt"/>
              </a:rPr>
              <a:t> app for uploading images and visualizing detection results.</a:t>
            </a:r>
            <a:endParaRPr lang="en-US" dirty="0"/>
          </a:p>
          <a:p>
            <a:pPr marL="0" indent="0">
              <a:buNone/>
            </a:pPr>
            <a:r>
              <a:rPr lang="en-US" dirty="0">
                <a:ea typeface="+mn-lt"/>
                <a:cs typeface="+mn-lt"/>
              </a:rPr>
              <a:t>• </a:t>
            </a:r>
            <a:r>
              <a:rPr lang="en-US" b="1" u="sng" dirty="0">
                <a:ea typeface="+mn-lt"/>
                <a:cs typeface="+mn-lt"/>
              </a:rPr>
              <a:t>Object Detection (YOLO):</a:t>
            </a:r>
            <a:r>
              <a:rPr lang="en-US" dirty="0">
                <a:ea typeface="+mn-lt"/>
                <a:cs typeface="+mn-lt"/>
              </a:rPr>
              <a:t> Detects and localizes marine debris </a:t>
            </a:r>
            <a:r>
              <a:rPr lang="en-US">
                <a:ea typeface="+mn-lt"/>
                <a:cs typeface="+mn-lt"/>
              </a:rPr>
              <a:t>using bounding boxes.</a:t>
            </a:r>
          </a:p>
          <a:p>
            <a:pPr marL="0" indent="0">
              <a:buNone/>
            </a:pPr>
            <a:r>
              <a:rPr lang="en-US" dirty="0">
                <a:ea typeface="+mn-lt"/>
                <a:cs typeface="+mn-lt"/>
              </a:rPr>
              <a:t>• </a:t>
            </a:r>
            <a:r>
              <a:rPr lang="en-US" b="1" u="sng" dirty="0">
                <a:ea typeface="+mn-lt"/>
                <a:cs typeface="+mn-lt"/>
              </a:rPr>
              <a:t>Confidence Scoring:</a:t>
            </a:r>
            <a:r>
              <a:rPr lang="en-US" dirty="0">
                <a:ea typeface="+mn-lt"/>
                <a:cs typeface="+mn-lt"/>
              </a:rPr>
              <a:t> Each detection </a:t>
            </a:r>
            <a:r>
              <a:rPr lang="en-US">
                <a:ea typeface="+mn-lt"/>
                <a:cs typeface="+mn-lt"/>
              </a:rPr>
              <a:t>includes a probability score.</a:t>
            </a:r>
          </a:p>
          <a:p>
            <a:pPr marL="0" indent="0">
              <a:buNone/>
            </a:pPr>
            <a:r>
              <a:rPr lang="en-US" dirty="0">
                <a:ea typeface="+mn-lt"/>
                <a:cs typeface="+mn-lt"/>
              </a:rPr>
              <a:t>• </a:t>
            </a:r>
            <a:r>
              <a:rPr lang="en-US" b="1" u="sng" dirty="0">
                <a:ea typeface="+mn-lt"/>
                <a:cs typeface="+mn-lt"/>
              </a:rPr>
              <a:t>Marine Environment Adaptation:</a:t>
            </a:r>
            <a:r>
              <a:rPr lang="en-US" dirty="0">
                <a:ea typeface="+mn-lt"/>
                <a:cs typeface="+mn-lt"/>
              </a:rPr>
              <a:t> Handles complex underwater </a:t>
            </a:r>
            <a:r>
              <a:rPr lang="en-US">
                <a:ea typeface="+mn-lt"/>
                <a:cs typeface="+mn-lt"/>
              </a:rPr>
              <a:t>backgrounds like sand, rocks, and vegetation.</a:t>
            </a:r>
          </a:p>
          <a:p>
            <a:pPr marL="0" indent="0">
              <a:buNone/>
            </a:pPr>
            <a:r>
              <a:rPr lang="en-US" dirty="0">
                <a:ea typeface="+mn-lt"/>
                <a:cs typeface="+mn-lt"/>
              </a:rPr>
              <a:t>• </a:t>
            </a:r>
            <a:r>
              <a:rPr lang="en-US" b="1" u="sng" dirty="0">
                <a:ea typeface="+mn-lt"/>
                <a:cs typeface="+mn-lt"/>
              </a:rPr>
              <a:t>Custom Test Dataset:</a:t>
            </a:r>
            <a:r>
              <a:rPr lang="en-US" dirty="0">
                <a:ea typeface="+mn-lt"/>
                <a:cs typeface="+mn-lt"/>
              </a:rPr>
              <a:t> Uses generated unseen images to validate real-world generalization. </a:t>
            </a:r>
            <a:endParaRPr lang="en-US"/>
          </a:p>
        </p:txBody>
      </p:sp>
    </p:spTree>
    <p:extLst>
      <p:ext uri="{BB962C8B-B14F-4D97-AF65-F5344CB8AC3E}">
        <p14:creationId xmlns:p14="http://schemas.microsoft.com/office/powerpoint/2010/main" val="1283772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89ACD-AA45-978E-D823-34C74B94203D}"/>
              </a:ext>
            </a:extLst>
          </p:cNvPr>
          <p:cNvSpPr>
            <a:spLocks noGrp="1"/>
          </p:cNvSpPr>
          <p:nvPr>
            <p:ph type="title"/>
          </p:nvPr>
        </p:nvSpPr>
        <p:spPr/>
        <p:txBody>
          <a:bodyPr/>
          <a:lstStyle/>
          <a:p>
            <a:r>
              <a:rPr lang="en-US" b="1">
                <a:solidFill>
                  <a:srgbClr val="0070C0"/>
                </a:solidFill>
              </a:rPr>
              <a:t>TECH STACK</a:t>
            </a:r>
          </a:p>
        </p:txBody>
      </p:sp>
      <p:sp>
        <p:nvSpPr>
          <p:cNvPr id="3" name="Content Placeholder 2">
            <a:extLst>
              <a:ext uri="{FF2B5EF4-FFF2-40B4-BE49-F238E27FC236}">
                <a16:creationId xmlns:a16="http://schemas.microsoft.com/office/drawing/2014/main" id="{01E996BE-6124-D91D-0D5E-89FD4CA1D4D0}"/>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 Programming Language: Python</a:t>
            </a:r>
            <a:endParaRPr lang="en-US"/>
          </a:p>
          <a:p>
            <a:pPr marL="0" indent="0">
              <a:buNone/>
            </a:pPr>
            <a:r>
              <a:rPr lang="en-US" dirty="0">
                <a:ea typeface="+mn-lt"/>
                <a:cs typeface="+mn-lt"/>
              </a:rPr>
              <a:t>• Deep Learning Model: YOLO </a:t>
            </a:r>
            <a:r>
              <a:rPr lang="en-US">
                <a:ea typeface="+mn-lt"/>
                <a:cs typeface="+mn-lt"/>
              </a:rPr>
              <a:t>(custom trained, saved as best.pt)</a:t>
            </a:r>
          </a:p>
          <a:p>
            <a:pPr marL="0" indent="0">
              <a:buNone/>
            </a:pPr>
            <a:r>
              <a:rPr lang="en-US" dirty="0">
                <a:ea typeface="+mn-lt"/>
                <a:cs typeface="+mn-lt"/>
              </a:rPr>
              <a:t>• </a:t>
            </a:r>
            <a:r>
              <a:rPr lang="en-US" dirty="0" err="1">
                <a:ea typeface="+mn-lt"/>
                <a:cs typeface="+mn-lt"/>
              </a:rPr>
              <a:t>Framework:Ultralytics</a:t>
            </a:r>
            <a:r>
              <a:rPr lang="en-US" dirty="0">
                <a:ea typeface="+mn-lt"/>
                <a:cs typeface="+mn-lt"/>
              </a:rPr>
              <a:t> YOLO</a:t>
            </a:r>
          </a:p>
          <a:p>
            <a:pPr marL="0" indent="0">
              <a:buNone/>
            </a:pPr>
            <a:r>
              <a:rPr lang="en-US" dirty="0">
                <a:ea typeface="+mn-lt"/>
                <a:cs typeface="+mn-lt"/>
              </a:rPr>
              <a:t>• Dataset: </a:t>
            </a:r>
            <a:r>
              <a:rPr lang="en-US" dirty="0" err="1">
                <a:ea typeface="+mn-lt"/>
                <a:cs typeface="+mn-lt"/>
              </a:rPr>
              <a:t>TrashCan</a:t>
            </a:r>
            <a:r>
              <a:rPr lang="en-US" dirty="0">
                <a:ea typeface="+mn-lt"/>
                <a:cs typeface="+mn-lt"/>
              </a:rPr>
              <a:t> Dataset + custom generated test images</a:t>
            </a:r>
          </a:p>
          <a:p>
            <a:pPr marL="0" indent="0">
              <a:buNone/>
            </a:pPr>
            <a:r>
              <a:rPr lang="en-US" dirty="0">
                <a:ea typeface="+mn-lt"/>
                <a:cs typeface="+mn-lt"/>
              </a:rPr>
              <a:t>• Frontend: </a:t>
            </a:r>
            <a:r>
              <a:rPr lang="en-US" dirty="0" err="1">
                <a:ea typeface="+mn-lt"/>
                <a:cs typeface="+mn-lt"/>
              </a:rPr>
              <a:t>Streamlit</a:t>
            </a:r>
            <a:r>
              <a:rPr lang="en-US" dirty="0">
                <a:ea typeface="+mn-lt"/>
                <a:cs typeface="+mn-lt"/>
              </a:rPr>
              <a:t> Libraries: OpenCV, NumPy, Pillow, Matplotlib</a:t>
            </a:r>
          </a:p>
          <a:p>
            <a:pPr marL="0" indent="0">
              <a:buNone/>
            </a:pPr>
            <a:r>
              <a:rPr lang="en-US" dirty="0">
                <a:ea typeface="+mn-lt"/>
                <a:cs typeface="+mn-lt"/>
              </a:rPr>
              <a:t>• Environment: Google </a:t>
            </a:r>
            <a:r>
              <a:rPr lang="en-US" dirty="0" err="1">
                <a:ea typeface="+mn-lt"/>
                <a:cs typeface="+mn-lt"/>
              </a:rPr>
              <a:t>Colab</a:t>
            </a:r>
            <a:r>
              <a:rPr lang="en-US" dirty="0">
                <a:ea typeface="+mn-lt"/>
                <a:cs typeface="+mn-lt"/>
              </a:rPr>
              <a:t>(training), VS Code (deployment/testing) </a:t>
            </a:r>
            <a:endParaRPr lang="en-US"/>
          </a:p>
        </p:txBody>
      </p:sp>
    </p:spTree>
    <p:extLst>
      <p:ext uri="{BB962C8B-B14F-4D97-AF65-F5344CB8AC3E}">
        <p14:creationId xmlns:p14="http://schemas.microsoft.com/office/powerpoint/2010/main" val="3659997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35878-DBF7-AE4E-2C69-B91D395A81DA}"/>
              </a:ext>
            </a:extLst>
          </p:cNvPr>
          <p:cNvSpPr>
            <a:spLocks noGrp="1"/>
          </p:cNvSpPr>
          <p:nvPr>
            <p:ph type="title"/>
          </p:nvPr>
        </p:nvSpPr>
        <p:spPr/>
        <p:txBody>
          <a:bodyPr/>
          <a:lstStyle/>
          <a:p>
            <a:r>
              <a:rPr lang="en-US" b="1">
                <a:solidFill>
                  <a:srgbClr val="0070C0"/>
                </a:solidFill>
              </a:rPr>
              <a:t>RESULTS</a:t>
            </a:r>
          </a:p>
        </p:txBody>
      </p:sp>
      <p:sp>
        <p:nvSpPr>
          <p:cNvPr id="3" name="Content Placeholder 2">
            <a:extLst>
              <a:ext uri="{FF2B5EF4-FFF2-40B4-BE49-F238E27FC236}">
                <a16:creationId xmlns:a16="http://schemas.microsoft.com/office/drawing/2014/main" id="{3FD621F4-351B-40A8-8498-7F966C19ACB8}"/>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 The proposed YOLO-based marine debris detection system demonstrates a shift from simple image classification to real-time object detection in complex underwater environments.</a:t>
            </a:r>
          </a:p>
          <a:p>
            <a:pPr marL="0" indent="0">
              <a:buNone/>
            </a:pPr>
            <a:r>
              <a:rPr lang="en-US" dirty="0">
                <a:ea typeface="+mn-lt"/>
                <a:cs typeface="+mn-lt"/>
              </a:rPr>
              <a:t>• By leveraging the </a:t>
            </a:r>
            <a:r>
              <a:rPr lang="en-US" dirty="0" err="1">
                <a:ea typeface="+mn-lt"/>
                <a:cs typeface="+mn-lt"/>
              </a:rPr>
              <a:t>TrashCan</a:t>
            </a:r>
            <a:r>
              <a:rPr lang="en-US" dirty="0">
                <a:ea typeface="+mn-lt"/>
                <a:cs typeface="+mn-lt"/>
              </a:rPr>
              <a:t> dataset and a custom-trained YOLO model (best.pt), the system can accurately detect and localize marine plastic waste using bounding boxes and confidence scores.</a:t>
            </a:r>
          </a:p>
          <a:p>
            <a:pPr marL="0" indent="0">
              <a:buNone/>
            </a:pPr>
            <a:r>
              <a:rPr lang="en-US" dirty="0">
                <a:ea typeface="+mn-lt"/>
                <a:cs typeface="+mn-lt"/>
              </a:rPr>
              <a:t>• The project serves as a foundational perception module for intelligent ocean-cleaning robots and automated marine monitoring systems. </a:t>
            </a:r>
            <a:endParaRPr lang="en-US"/>
          </a:p>
        </p:txBody>
      </p:sp>
    </p:spTree>
    <p:extLst>
      <p:ext uri="{BB962C8B-B14F-4D97-AF65-F5344CB8AC3E}">
        <p14:creationId xmlns:p14="http://schemas.microsoft.com/office/powerpoint/2010/main" val="1252658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62ABC4B-37D8-4218-BDD8-6DF6A00C0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descr="A screenshot of a computer&#10;&#10;AI-generated content may be incorrect.">
            <a:extLst>
              <a:ext uri="{FF2B5EF4-FFF2-40B4-BE49-F238E27FC236}">
                <a16:creationId xmlns:a16="http://schemas.microsoft.com/office/drawing/2014/main" id="{0577678C-34FF-10C9-5E87-91D0584456D1}"/>
              </a:ext>
            </a:extLst>
          </p:cNvPr>
          <p:cNvPicPr>
            <a:picLocks noChangeAspect="1"/>
          </p:cNvPicPr>
          <p:nvPr/>
        </p:nvPicPr>
        <p:blipFill>
          <a:blip r:embed="rId2"/>
          <a:srcRect r="-2" b="14925"/>
          <a:stretch>
            <a:fillRect/>
          </a:stretch>
        </p:blipFill>
        <p:spPr>
          <a:xfrm>
            <a:off x="321730" y="321732"/>
            <a:ext cx="5674897" cy="3017405"/>
          </a:xfrm>
          <a:prstGeom prst="rect">
            <a:avLst/>
          </a:prstGeom>
        </p:spPr>
      </p:pic>
      <p:pic>
        <p:nvPicPr>
          <p:cNvPr id="4" name="Picture 3" descr="A computer screen shot of a program&#10;&#10;AI-generated content may be incorrect.">
            <a:extLst>
              <a:ext uri="{FF2B5EF4-FFF2-40B4-BE49-F238E27FC236}">
                <a16:creationId xmlns:a16="http://schemas.microsoft.com/office/drawing/2014/main" id="{D2155637-BDF4-5C4A-A5DB-871AEC20AA53}"/>
              </a:ext>
            </a:extLst>
          </p:cNvPr>
          <p:cNvPicPr>
            <a:picLocks noChangeAspect="1"/>
          </p:cNvPicPr>
          <p:nvPr/>
        </p:nvPicPr>
        <p:blipFill>
          <a:blip r:embed="rId3"/>
          <a:srcRect t="21339" r="-2" b="-2"/>
          <a:stretch>
            <a:fillRect/>
          </a:stretch>
        </p:blipFill>
        <p:spPr>
          <a:xfrm>
            <a:off x="321730" y="3510853"/>
            <a:ext cx="5674897" cy="2789954"/>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A3E97033-1AE9-6654-239D-54DB956E1592}"/>
              </a:ext>
            </a:extLst>
          </p:cNvPr>
          <p:cNvPicPr>
            <a:picLocks noChangeAspect="1"/>
          </p:cNvPicPr>
          <p:nvPr/>
        </p:nvPicPr>
        <p:blipFill>
          <a:blip r:embed="rId4"/>
          <a:srcRect l="18256" r="22423" b="-1"/>
          <a:stretch>
            <a:fillRect/>
          </a:stretch>
        </p:blipFill>
        <p:spPr>
          <a:xfrm>
            <a:off x="6195373" y="321733"/>
            <a:ext cx="5674897" cy="5979074"/>
          </a:xfrm>
          <a:prstGeom prst="rect">
            <a:avLst/>
          </a:prstGeom>
        </p:spPr>
      </p:pic>
    </p:spTree>
    <p:extLst>
      <p:ext uri="{BB962C8B-B14F-4D97-AF65-F5344CB8AC3E}">
        <p14:creationId xmlns:p14="http://schemas.microsoft.com/office/powerpoint/2010/main" val="3030735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BE3FA7-0D70-4431-814F-D8C40576E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16425D99-ABD4-EA8F-BF42-4FFF7FCDF9CD}"/>
              </a:ext>
            </a:extLst>
          </p:cNvPr>
          <p:cNvPicPr>
            <a:picLocks noChangeAspect="1"/>
          </p:cNvPicPr>
          <p:nvPr/>
        </p:nvPicPr>
        <p:blipFill>
          <a:blip r:embed="rId2"/>
          <a:srcRect l="18684" r="19630" b="-2"/>
          <a:stretch>
            <a:fillRect/>
          </a:stretch>
        </p:blipFill>
        <p:spPr>
          <a:xfrm>
            <a:off x="321731" y="557189"/>
            <a:ext cx="5668684" cy="5743618"/>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28A654D4-5F42-8353-6C1D-00D63FB777E8}"/>
              </a:ext>
            </a:extLst>
          </p:cNvPr>
          <p:cNvPicPr>
            <a:picLocks noChangeAspect="1"/>
          </p:cNvPicPr>
          <p:nvPr/>
        </p:nvPicPr>
        <p:blipFill>
          <a:blip r:embed="rId3"/>
          <a:srcRect l="18714" r="19532" b="-2"/>
          <a:stretch>
            <a:fillRect/>
          </a:stretch>
        </p:blipFill>
        <p:spPr>
          <a:xfrm>
            <a:off x="6195375" y="557189"/>
            <a:ext cx="5674893" cy="5743618"/>
          </a:xfrm>
          <a:prstGeom prst="rect">
            <a:avLst/>
          </a:prstGeom>
        </p:spPr>
      </p:pic>
    </p:spTree>
    <p:extLst>
      <p:ext uri="{BB962C8B-B14F-4D97-AF65-F5344CB8AC3E}">
        <p14:creationId xmlns:p14="http://schemas.microsoft.com/office/powerpoint/2010/main" val="3712407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71A40-355F-55AC-9C09-8373C24FB7E8}"/>
              </a:ext>
            </a:extLst>
          </p:cNvPr>
          <p:cNvSpPr>
            <a:spLocks noGrp="1"/>
          </p:cNvSpPr>
          <p:nvPr>
            <p:ph type="ctrTitle"/>
          </p:nvPr>
        </p:nvSpPr>
        <p:spPr/>
        <p:txBody>
          <a:bodyPr>
            <a:normAutofit/>
          </a:bodyPr>
          <a:lstStyle/>
          <a:p>
            <a:r>
              <a:rPr lang="en-US" sz="2400" b="1">
                <a:solidFill>
                  <a:srgbClr val="0070C0"/>
                </a:solidFill>
                <a:ea typeface="+mj-lt"/>
                <a:cs typeface="+mj-lt"/>
              </a:rPr>
              <a:t>Advancing ocean conservation by bridging the gap between computer vision and autonomous marine cleanup systems.</a:t>
            </a:r>
            <a:endParaRPr lang="en-US" sz="2400">
              <a:solidFill>
                <a:srgbClr val="000000"/>
              </a:solidFill>
            </a:endParaRPr>
          </a:p>
        </p:txBody>
      </p:sp>
    </p:spTree>
    <p:extLst>
      <p:ext uri="{BB962C8B-B14F-4D97-AF65-F5344CB8AC3E}">
        <p14:creationId xmlns:p14="http://schemas.microsoft.com/office/powerpoint/2010/main" val="4141892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PLASTIC DETECTION USING YOLO</vt:lpstr>
      <vt:lpstr>ABSTRACT</vt:lpstr>
      <vt:lpstr>PowerPoint Presentation</vt:lpstr>
      <vt:lpstr>CONTENTS</vt:lpstr>
      <vt:lpstr>INTRODUCTION</vt:lpstr>
      <vt:lpstr>LITERATURE SURVEY</vt:lpstr>
      <vt:lpstr>PROBLEM STATEMENT</vt:lpstr>
      <vt:lpstr>PROPOSED SOLUTION</vt:lpstr>
      <vt:lpstr>OBJECTIVES</vt:lpstr>
      <vt:lpstr>FRAMEWORK (METHODOLOGY)</vt:lpstr>
      <vt:lpstr>MODULES</vt:lpstr>
      <vt:lpstr>TECH STACK</vt:lpstr>
      <vt:lpstr>RESULTS</vt:lpstr>
      <vt:lpstr>PowerPoint Presentation</vt:lpstr>
      <vt:lpstr>PowerPoint Presentation</vt:lpstr>
      <vt:lpstr>Advancing ocean conservation by bridging the gap between computer vision and autonomous marine cleanup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176</cp:revision>
  <dcterms:created xsi:type="dcterms:W3CDTF">2026-06-14T12:39:51Z</dcterms:created>
  <dcterms:modified xsi:type="dcterms:W3CDTF">2026-06-14T13:14:55Z</dcterms:modified>
</cp:coreProperties>
</file>